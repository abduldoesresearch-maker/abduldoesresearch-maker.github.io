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
(May–Jul)</c:v>
                  </c:pt>
                  <c:pt idx="1">
                    <c:v>Summer
(Aug–Oct)</c:v>
                  </c:pt>
                  <c:pt idx="2">
                    <c:v>Fall
(Nov–Jan)</c:v>
                  </c:pt>
                  <c:pt idx="3">
                    <c:v>Winter
(Feb–Apr)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24.7</c:v>
                </c:pt>
                <c:pt idx="1">
                  <c:v>22.1</c:v>
                </c:pt>
                <c:pt idx="2">
                  <c:v>17.7</c:v>
                </c:pt>
                <c:pt idx="3">
                  <c:v>19.3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4A90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
(May–Jul)</c:v>
                  </c:pt>
                  <c:pt idx="1">
                    <c:v>Summer
(Aug–Oct)</c:v>
                  </c:pt>
                  <c:pt idx="2">
                    <c:v>Fall
(Nov–Jan)</c:v>
                  </c:pt>
                  <c:pt idx="3">
                    <c:v>Winter
(Feb–Apr)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12.9</c:v>
                </c:pt>
                <c:pt idx="1">
                  <c:v>12.7</c:v>
                </c:pt>
                <c:pt idx="2">
                  <c:v>12.2</c:v>
                </c:pt>
                <c:pt idx="3">
                  <c:v>11.3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DC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C8DCF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C8DCFA"/>
                    </a:solidFill>
                    <a:latin typeface="Arial"/>
                  </a:rPr>
                  <a:t>Avg 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DC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44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8DCF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4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1280567</c:v>
                </c:pt>
                <c:pt idx="1">
                  <c:v>756471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4A90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2813403</c:v>
                </c:pt>
                <c:pt idx="1">
                  <c:v>845208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8DC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DC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44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8DCF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44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86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
(May–Jul)</c:v>
                  </c:pt>
                  <c:pt idx="1">
                    <c:v>Summer
(Aug–Oct)</c:v>
                  </c:pt>
                  <c:pt idx="2">
                    <c:v>Fall
(Nov–Jan)</c:v>
                  </c:pt>
                  <c:pt idx="3">
                    <c:v>Winter
(Feb–Apr)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797812</c:v>
                </c:pt>
                <c:pt idx="1">
                  <c:v>826895</c:v>
                </c:pt>
                <c:pt idx="2">
                  <c:v>151873</c:v>
                </c:pt>
                <c:pt idx="3">
                  <c:v>260458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4A90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Spring
(May–Jul)</c:v>
                  </c:pt>
                  <c:pt idx="1">
                    <c:v>Summer
(Aug–Oct)</c:v>
                  </c:pt>
                  <c:pt idx="2">
                    <c:v>Fall
(Nov–Jan)</c:v>
                  </c:pt>
                  <c:pt idx="3">
                    <c:v>Winter
(Feb–Apr)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1146391</c:v>
                </c:pt>
                <c:pt idx="1">
                  <c:v>1323464</c:v>
                </c:pt>
                <c:pt idx="2">
                  <c:v>482746</c:v>
                </c:pt>
                <c:pt idx="3">
                  <c:v>706010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DC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DC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44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8DCF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4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62447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1E3A6E"/>
          </a:solidFill>
          <a:ln w="6350">
            <a:solidFill>
              <a:srgbClr val="C8DC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CASE 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Annual Members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Casual Riders Use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Cyclistic Bikes Differently?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3794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analysis of 5.7 million rides to guide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casual-to-member conversion strategy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5,697,455 Total Rides   |   May 2025 – Apr 2026   |   Chicago, 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that define the conversion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2743200" cy="3474720"/>
          </a:xfrm>
          <a:prstGeom prst="rect">
            <a:avLst/>
          </a:prstGeom>
          <a:solidFill>
            <a:srgbClr val="162447"/>
          </a:solidFill>
          <a:ln w="19050">
            <a:solidFill>
              <a:srgbClr val="E86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188720"/>
            <a:ext cx="2743200" cy="54864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Duration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" y="2240280"/>
            <a:ext cx="2423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average 22.4 min per ride — nearly twice the member average of 12.4 min. Casuals extract more value per ride but less frequently.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162447"/>
          </a:solidFill>
          <a:ln w="1905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64992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vs Leisure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240280"/>
            <a:ext cx="2423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dominate weekday rides (2.8M vs 1.3M). Casuals peak on weekends. Member ride duration is consistent every day; casuals ride longer when they have free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188720"/>
            <a:ext cx="2743200" cy="3474720"/>
          </a:xfrm>
          <a:prstGeom prst="rect">
            <a:avLst/>
          </a:prstGeom>
          <a:solidFill>
            <a:srgbClr val="16244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1887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Opportunity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423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 of casual rides occur during weekday commute hours — nearly 608,000 rides from people behaving like members but paying casual prices.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The Duration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ride almost twice as long as members — every month, every season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371600"/>
          </a:xfrm>
          <a:prstGeom prst="rect">
            <a:avLst/>
          </a:prstGeom>
          <a:solidFill>
            <a:srgbClr val="162447"/>
          </a:solidFill>
          <a:ln w="15240">
            <a:solidFill>
              <a:srgbClr val="E86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1704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Casual Ride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1920240" cy="1371600"/>
          </a:xfrm>
          <a:prstGeom prst="rect">
            <a:avLst/>
          </a:prstGeom>
          <a:solidFill>
            <a:srgbClr val="162447"/>
          </a:solidFill>
          <a:ln w="1524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23744" y="11704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23744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23744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Member Ride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1920240" cy="1371600"/>
          </a:xfrm>
          <a:prstGeom prst="rect">
            <a:avLst/>
          </a:prstGeom>
          <a:solidFill>
            <a:srgbClr val="16244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1704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1.8×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00016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0016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per Trip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1920240" cy="1371600"/>
          </a:xfrm>
          <a:prstGeom prst="rect">
            <a:avLst/>
          </a:prstGeom>
          <a:solidFill>
            <a:srgbClr val="162447"/>
          </a:solidFill>
          <a:ln w="15240">
            <a:solidFill>
              <a:srgbClr val="C8DC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76288" y="117043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D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35.8%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76288" y="17830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76288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Share</a:t>
            </a:r>
            <a:endParaRPr lang="en-US" sz="9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2606040"/>
          <a:ext cx="8595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2: Commuters vs Leisure Riders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ride consistently for work. Casuals ride for fun — mostly on weekends.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143000"/>
            <a:ext cx="3291840" cy="1051560"/>
          </a:xfrm>
          <a:prstGeom prst="rect">
            <a:avLst/>
          </a:prstGeom>
          <a:solidFill>
            <a:srgbClr val="162447"/>
          </a:solidFill>
          <a:ln w="1524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143000"/>
            <a:ext cx="54864" cy="10515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05856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weekday rides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05856" y="1444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2,813,403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05856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1,280,567 casual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2331720"/>
            <a:ext cx="3291840" cy="1051560"/>
          </a:xfrm>
          <a:prstGeom prst="rect">
            <a:avLst/>
          </a:prstGeom>
          <a:solidFill>
            <a:srgbClr val="162447"/>
          </a:solidFill>
          <a:ln w="15240">
            <a:solidFill>
              <a:srgbClr val="E86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331720"/>
            <a:ext cx="54864" cy="105156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05856" y="2404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avg on weekends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05856" y="2633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25.5 min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705856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20.6 min on weekdays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3520440"/>
            <a:ext cx="3291840" cy="1051560"/>
          </a:xfrm>
          <a:prstGeom prst="rect">
            <a:avLst/>
          </a:prstGeom>
          <a:solidFill>
            <a:srgbClr val="16244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520440"/>
            <a:ext cx="54864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05856" y="3593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consistency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05856" y="3822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 → 13.6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705856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to weekend duration — barely changes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3: Casuals Are Seasonal — Members Are Habitual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ridership collapses in winter. Member demand holds steady year-round.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834640" cy="1371600"/>
          </a:xfrm>
          <a:prstGeom prst="rect">
            <a:avLst/>
          </a:prstGeom>
          <a:solidFill>
            <a:srgbClr val="162447"/>
          </a:solidFill>
          <a:ln w="15240">
            <a:solidFill>
              <a:srgbClr val="E86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Winter Drop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72200" y="14447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−82%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17220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peak → Fall (Nov–Jan)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2651760"/>
            <a:ext cx="2834640" cy="1371600"/>
          </a:xfrm>
          <a:prstGeom prst="rect">
            <a:avLst/>
          </a:prstGeom>
          <a:solidFill>
            <a:srgbClr val="162447"/>
          </a:solidFill>
          <a:ln w="1524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Winter Drop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29992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−64%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6172200" y="3493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far more resilient to weather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4160520"/>
            <a:ext cx="2834640" cy="731520"/>
          </a:xfrm>
          <a:prstGeom prst="rect">
            <a:avLst/>
          </a:prstGeom>
          <a:solidFill>
            <a:srgbClr val="1A3A2A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44768" y="4206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Converting seasonals to members creates a year-round revenue base.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4: Where Each Group Rides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cluster at tourist &amp; lakefront spots. Members cluster at transit &amp; office corridors.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CASUAL START STATIONS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179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Pier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11880" y="1517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32,766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562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856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Lake Shore Dr &amp; Monroe 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18562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31,731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945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Ave &amp; Oak 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21945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22,653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96312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328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532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Lake Shore Dr &amp; North Blvd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11880" y="25328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712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2871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Streeter Dr &amp; Grand 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28712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19,271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172968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095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3209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Park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11880" y="32095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18,960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511296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478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Shedd Aquarium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11880" y="35478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16,894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849624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8862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on the Lake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11880" y="38862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15,897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187952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224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8368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Harbor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11880" y="42245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15,459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526280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5628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" y="4562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Ave &amp; 8th St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11880" y="45628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11,087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MEMBER START STATIONS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1481328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15179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38928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Kingsbury St &amp; Kinzie 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92440" y="1517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23,263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1819656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18562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38928" y="1856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St &amp; Madison 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92440" y="185623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22,506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0" y="2157984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1945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38928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Clinton St &amp; Washington Blvd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92440" y="21945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22,231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2496312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25328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38928" y="2532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Clinton St &amp; Madison St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092440" y="25328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20,705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54880" y="2834640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28712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138928" y="2871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 &amp; Chicago Ave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092440" y="28712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3172968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32095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38928" y="3209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St &amp; Elm 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092440" y="32095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19,187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754880" y="3511296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00600" y="35478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138928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St &amp; Elm St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092440" y="35478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19,144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754880" y="3849624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0600" y="38862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138928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St &amp; Concord Ln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092440" y="38862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18,707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754880" y="4187952"/>
            <a:ext cx="4114800" cy="329184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00600" y="42245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138928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Clinton St &amp; Jackson Blvd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092440" y="42245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18,684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754880" y="4526280"/>
            <a:ext cx="411480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00600" y="45628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138928" y="4562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St &amp; Huron St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092440" y="45628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18,329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453128" y="1078992"/>
            <a:ext cx="0" cy="384048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27432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 Tourist &amp; Lakefront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475488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Transit &amp; Office Corridors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Conversion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casual rides already show member-like behaviour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solidFill>
            <a:srgbClr val="162447"/>
          </a:solidFill>
          <a:ln w="16510">
            <a:solidFill>
              <a:srgbClr val="C8DC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78992"/>
            <a:ext cx="54864" cy="640080"/>
          </a:xfrm>
          <a:prstGeom prst="rect">
            <a:avLst/>
          </a:prstGeom>
          <a:solidFill>
            <a:srgbClr val="C8DCFA"/>
          </a:solidFill>
          <a:ln w="12700">
            <a:solidFill>
              <a:srgbClr val="C8DC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247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Casual Rides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4081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2,037,038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1704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D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1837944"/>
            <a:ext cx="6858000" cy="640080"/>
          </a:xfrm>
          <a:prstGeom prst="rect">
            <a:avLst/>
          </a:prstGeom>
          <a:solidFill>
            <a:srgbClr val="162447"/>
          </a:solidFill>
          <a:ln w="16510">
            <a:solidFill>
              <a:srgbClr val="E86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837944"/>
            <a:ext cx="54864" cy="64008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1883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Casual Rides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07592" y="2167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1,280,567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19293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62.9%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28800" y="2596896"/>
            <a:ext cx="5486400" cy="640080"/>
          </a:xfrm>
          <a:prstGeom prst="rect">
            <a:avLst/>
          </a:prstGeom>
          <a:solidFill>
            <a:srgbClr val="162447"/>
          </a:solidFill>
          <a:ln w="1651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0" y="2596896"/>
            <a:ext cx="54864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During Commute Hours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93392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861,999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68833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42.3%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514600" y="3355848"/>
            <a:ext cx="4114800" cy="640080"/>
          </a:xfrm>
          <a:prstGeom prst="rect">
            <a:avLst/>
          </a:prstGeom>
          <a:solidFill>
            <a:srgbClr val="162447"/>
          </a:solidFill>
          <a:ln w="1651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14600" y="3355848"/>
            <a:ext cx="54864" cy="6400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Hours + Weekday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79192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607,562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344728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29.8%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2971800" y="4114800"/>
            <a:ext cx="3200400" cy="749808"/>
          </a:xfrm>
          <a:prstGeom prst="rect">
            <a:avLst/>
          </a:prstGeom>
          <a:solidFill>
            <a:srgbClr val="162447"/>
          </a:solidFill>
          <a:ln w="1651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71800" y="4114800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36392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Signals: Commute + Weekday + Short Ride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36392" y="4443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543,008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26.7%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1A3A2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663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543,008 casual rides already mirror member behaviour — these riders are the highest-priority conversion targets.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targeted actions to convert casual riders into annual members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170432"/>
          </a:xfrm>
          <a:prstGeom prst="rect">
            <a:avLst/>
          </a:prstGeom>
          <a:solidFill>
            <a:srgbClr val="16244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Commute-Hour Casuals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554480"/>
            <a:ext cx="64008" cy="640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4996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607,562 rides happen on weekday commute hours — these are your best leads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64008" cy="640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7282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digital ads at Navy Pier &amp; lakefront stations on weekday mornings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011680"/>
            <a:ext cx="64008" cy="640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9568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'first month free' trial in September before winter drops demand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1170432"/>
          </a:xfrm>
          <a:prstGeom prst="rect">
            <a:avLst/>
          </a:prstGeom>
          <a:solidFill>
            <a:srgbClr val="162447"/>
          </a:solidFill>
          <a:ln w="15240">
            <a:solidFill>
              <a:srgbClr val="4A9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95728"/>
            <a:ext cx="64008" cy="117043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48716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Duration Savings Angle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852928"/>
            <a:ext cx="64008" cy="6400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27980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ride 22.4 min avg — well within membership value range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3081528"/>
            <a:ext cx="64008" cy="6400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0266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side-by-side cost comparison: pay-per-ride vs annual membership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3310128"/>
            <a:ext cx="64008" cy="6400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2552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savings for riders doing 3+ rides per 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1170432"/>
          </a:xfrm>
          <a:prstGeom prst="rect">
            <a:avLst/>
          </a:prstGeom>
          <a:solidFill>
            <a:srgbClr val="162447"/>
          </a:solidFill>
          <a:ln w="15240">
            <a:solidFill>
              <a:srgbClr val="E86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94176"/>
            <a:ext cx="64008" cy="117043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67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7856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Seasonal Riders Before Winter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" y="4151376"/>
            <a:ext cx="64008" cy="64008"/>
          </a:xfrm>
          <a:prstGeom prst="ellipse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4096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ridership drops 82% in winter vs summer peak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4379976"/>
            <a:ext cx="64008" cy="64008"/>
          </a:xfrm>
          <a:prstGeom prst="ellipse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43251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late-summer campaign (Aug–Sep) with a winter commitment discount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" y="4608576"/>
            <a:ext cx="64008" cy="64008"/>
          </a:xfrm>
          <a:prstGeom prst="ellipse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4553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digital media to reach lakefront tourists before the season ends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162447"/>
          </a:solidFill>
          <a:ln w="10160">
            <a:solidFill>
              <a:srgbClr val="4A9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162447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Is Clear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543,008 casual riders already behave like members.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just haven't been given a compelling reason to commit.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2103120" cy="1463040"/>
          </a:xfrm>
          <a:prstGeom prst="rect">
            <a:avLst/>
          </a:prstGeom>
          <a:solidFill>
            <a:srgbClr val="1624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casual rides 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commute hours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2606040"/>
            <a:ext cx="2103120" cy="1463040"/>
          </a:xfrm>
          <a:prstGeom prst="rect">
            <a:avLst/>
          </a:prstGeom>
          <a:solidFill>
            <a:srgbClr val="1624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4904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rides than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per trip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606040"/>
            <a:ext cx="2103120" cy="1463040"/>
          </a:xfrm>
          <a:prstGeom prst="rect">
            <a:avLst/>
          </a:prstGeom>
          <a:solidFill>
            <a:srgbClr val="162447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drop in winter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summer peak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by Abdul  |  Tools: Python · BigQuery · 5.7M rides  |  May 2025 – Apr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Bike-Share: Casual to Member Conversion Strategy</dc:title>
  <dc:subject>PptxGenJS Presentation</dc:subject>
  <dc:creator>Abdul</dc:creator>
  <cp:lastModifiedBy>Abdul</cp:lastModifiedBy>
  <cp:revision>1</cp:revision>
  <dcterms:created xsi:type="dcterms:W3CDTF">2026-05-18T01:38:37Z</dcterms:created>
  <dcterms:modified xsi:type="dcterms:W3CDTF">2026-05-18T01:38:37Z</dcterms:modified>
</cp:coreProperties>
</file>